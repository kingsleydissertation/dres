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5" r:id="rId7"/>
    <p:sldId id="262" r:id="rId8"/>
    <p:sldId id="260" r:id="rId9"/>
    <p:sldId id="261"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1" autoAdjust="0"/>
    <p:restoredTop sz="94660"/>
  </p:normalViewPr>
  <p:slideViewPr>
    <p:cSldViewPr snapToGrid="0">
      <p:cViewPr>
        <p:scale>
          <a:sx n="103" d="100"/>
          <a:sy n="103" d="100"/>
        </p:scale>
        <p:origin x="-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uabuchi Arinze" userId="e4a431b4-79ab-4bf6-8ec9-59f8671b2877" providerId="ADAL" clId="{81D35838-FF47-4755-8B19-626C84F60DEA}"/>
    <pc:docChg chg="custSel addSld modSld">
      <pc:chgData name="Maduabuchi Arinze" userId="e4a431b4-79ab-4bf6-8ec9-59f8671b2877" providerId="ADAL" clId="{81D35838-FF47-4755-8B19-626C84F60DEA}" dt="2026-06-03T15:11:26.586" v="445" actId="680"/>
      <pc:docMkLst>
        <pc:docMk/>
      </pc:docMkLst>
      <pc:sldChg chg="addSp modSp mod">
        <pc:chgData name="Maduabuchi Arinze" userId="e4a431b4-79ab-4bf6-8ec9-59f8671b2877" providerId="ADAL" clId="{81D35838-FF47-4755-8B19-626C84F60DEA}" dt="2026-06-02T11:40:39.801" v="4" actId="1076"/>
        <pc:sldMkLst>
          <pc:docMk/>
          <pc:sldMk cId="1035776695" sldId="256"/>
        </pc:sldMkLst>
        <pc:picChg chg="add mod">
          <ac:chgData name="Maduabuchi Arinze" userId="e4a431b4-79ab-4bf6-8ec9-59f8671b2877" providerId="ADAL" clId="{81D35838-FF47-4755-8B19-626C84F60DEA}" dt="2026-06-02T11:40:39.801" v="4" actId="1076"/>
          <ac:picMkLst>
            <pc:docMk/>
            <pc:sldMk cId="1035776695" sldId="256"/>
            <ac:picMk id="4" creationId="{4BD6085C-38E8-6694-0B52-7933148013F3}"/>
          </ac:picMkLst>
        </pc:picChg>
      </pc:sldChg>
      <pc:sldChg chg="modSp mod">
        <pc:chgData name="Maduabuchi Arinze" userId="e4a431b4-79ab-4bf6-8ec9-59f8671b2877" providerId="ADAL" clId="{81D35838-FF47-4755-8B19-626C84F60DEA}" dt="2026-06-03T13:59:13.396" v="444" actId="20577"/>
        <pc:sldMkLst>
          <pc:docMk/>
          <pc:sldMk cId="618384370" sldId="264"/>
        </pc:sldMkLst>
        <pc:spChg chg="mod">
          <ac:chgData name="Maduabuchi Arinze" userId="e4a431b4-79ab-4bf6-8ec9-59f8671b2877" providerId="ADAL" clId="{81D35838-FF47-4755-8B19-626C84F60DEA}" dt="2026-06-03T13:59:13.396" v="444" actId="20577"/>
          <ac:spMkLst>
            <pc:docMk/>
            <pc:sldMk cId="618384370" sldId="264"/>
            <ac:spMk id="3" creationId="{2E13A565-3CCE-F5AC-70F5-06A3C0DD76E2}"/>
          </ac:spMkLst>
        </pc:spChg>
      </pc:sldChg>
      <pc:sldChg chg="new">
        <pc:chgData name="Maduabuchi Arinze" userId="e4a431b4-79ab-4bf6-8ec9-59f8671b2877" providerId="ADAL" clId="{81D35838-FF47-4755-8B19-626C84F60DEA}" dt="2026-06-03T15:11:26.586" v="445" actId="680"/>
        <pc:sldMkLst>
          <pc:docMk/>
          <pc:sldMk cId="53325515"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C96E-2BD2-6C83-59B9-23A6251BB46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C55AC1F-3A2C-A015-EADA-226445760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E168A84-437D-2851-A317-995DC85C5BE7}"/>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A227D290-4846-5BFF-F8A6-3A5D7617CB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A14185-FD78-97BF-34DD-0938E1B1223E}"/>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238827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94C6-BBA7-D993-EA87-138964E7A38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FAF22A8-06D7-2CC0-3F5F-71B808217F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2804CAE-4991-B2ED-BD04-86CEF7A8AEB4}"/>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EE2BA1AD-0B12-3891-4D09-D137C69D09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A07C0A-FB68-518A-B6A8-B9C6886DE67E}"/>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4030580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4E71-9F50-5744-CA9D-2061C38A34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C67EDE0-6083-BF38-F0F9-717B3E3A73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2BE85DC-0997-A72D-612A-87775AA2E1A2}"/>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29EE3AC4-226A-43CA-DD0D-88AE07D710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F8C2C6-767D-4052-3EC3-083CA7AD5EA1}"/>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71988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A27AF-7903-962D-9EFC-7262CC7499D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F484832-C247-FC36-6C62-E987C73A6E8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0BA343EE-AE82-1224-67F7-CCCFFC94E4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93FF72D-7800-F62E-9323-DADD02E7A272}"/>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6" name="Footer Placeholder 5">
            <a:extLst>
              <a:ext uri="{FF2B5EF4-FFF2-40B4-BE49-F238E27FC236}">
                <a16:creationId xmlns:a16="http://schemas.microsoft.com/office/drawing/2014/main" id="{93BDA698-71B7-6021-0A51-68BCE3415F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75AD08-1EB0-9FD8-566D-12B8FAF24544}"/>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4081858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5B2A-EC9F-29A9-29D1-9468B8449D3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E5ED196-4DC4-0AE3-7497-3D743E96A9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8257DA-4DE4-974B-F95C-297FAC801B1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A704F6F-5BD3-C795-F0FA-EEB574E892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D63FE6F-6AA2-B362-56F5-98BF01C8D18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2FC31BA-CA6B-CB52-94B3-2D870C0B7E1E}"/>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8" name="Footer Placeholder 7">
            <a:extLst>
              <a:ext uri="{FF2B5EF4-FFF2-40B4-BE49-F238E27FC236}">
                <a16:creationId xmlns:a16="http://schemas.microsoft.com/office/drawing/2014/main" id="{5352F62F-BBF6-A49C-4D01-1FE7BD64C87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9140142-9925-64FC-96B4-EE0F39D0C496}"/>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194025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A1B8-56EF-9F78-4306-A566B905AAD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1A06DFF-1448-4DD0-70A5-E90A80BCD385}"/>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4" name="Footer Placeholder 3">
            <a:extLst>
              <a:ext uri="{FF2B5EF4-FFF2-40B4-BE49-F238E27FC236}">
                <a16:creationId xmlns:a16="http://schemas.microsoft.com/office/drawing/2014/main" id="{243E1D55-B2C2-2321-895B-3AFD8D2B3E8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94EC002-47F1-5A2B-B33C-0B1556AB85BB}"/>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405477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311A82-D4E6-8BB7-A6BF-40A665D773F2}"/>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3" name="Footer Placeholder 2">
            <a:extLst>
              <a:ext uri="{FF2B5EF4-FFF2-40B4-BE49-F238E27FC236}">
                <a16:creationId xmlns:a16="http://schemas.microsoft.com/office/drawing/2014/main" id="{C93F7A0F-4B88-09B6-9A60-42920CB03B7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AB7329B-E2B1-F257-736B-B28DF11FB6B9}"/>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3854190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C9DD-A3AD-F370-B218-9052EE15B1E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5831641-935D-C487-E58E-A635616BEF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B881FA5-C374-D579-AE62-E007AAF04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DAA551-6B6A-C9DA-A98F-B719437EEA52}"/>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6" name="Footer Placeholder 5">
            <a:extLst>
              <a:ext uri="{FF2B5EF4-FFF2-40B4-BE49-F238E27FC236}">
                <a16:creationId xmlns:a16="http://schemas.microsoft.com/office/drawing/2014/main" id="{E17B5EAB-BE07-F3CC-410D-D045CC36015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68F1910-6D8B-7B29-5AA6-50CDD32945B5}"/>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413142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6187F-487D-74FA-68F2-C0008B1988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297F71E-CD03-E93F-2395-9554A0602C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DCF6AE4-E44F-2F84-EA1F-211539852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900BF0-59EE-8FB4-E472-7F4C406B940B}"/>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6" name="Footer Placeholder 5">
            <a:extLst>
              <a:ext uri="{FF2B5EF4-FFF2-40B4-BE49-F238E27FC236}">
                <a16:creationId xmlns:a16="http://schemas.microsoft.com/office/drawing/2014/main" id="{AC2BE895-58B3-5776-299E-2D0696D5B8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67A0A43-AFA9-C537-8DF4-9670A83A2620}"/>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285039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E7941-218A-9471-F8B4-14AD04A6C28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1B2BAC0-FCFA-AAC2-A415-DFC8881237C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AE9968B-7CC1-89BB-8807-BB556A4B1F9A}"/>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7E9E585A-7136-F4F1-063A-B4B3985F7E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8962C3-E12C-116E-1F01-3DD2270B0660}"/>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2347285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90400-03AB-966A-C29C-873DA4C8BACE}"/>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B7B57B7-C3AA-5BEC-77A5-92873E9BA23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0FA6468-8794-C5D1-3E7E-A381CAADF5E0}"/>
              </a:ext>
            </a:extLst>
          </p:cNvPr>
          <p:cNvSpPr>
            <a:spLocks noGrp="1"/>
          </p:cNvSpPr>
          <p:nvPr>
            <p:ph type="dt" sz="half" idx="10"/>
          </p:nvPr>
        </p:nvSpPr>
        <p:spPr/>
        <p:txBody>
          <a:body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6BC08F5C-9183-70B2-CF8B-441479B5D0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11B87C-8F6F-626E-7AA2-2FB0C26C8E7A}"/>
              </a:ext>
            </a:extLst>
          </p:cNvPr>
          <p:cNvSpPr>
            <a:spLocks noGrp="1"/>
          </p:cNvSpPr>
          <p:nvPr>
            <p:ph type="sldNum" sz="quarter" idx="12"/>
          </p:nvPr>
        </p:nvSpPr>
        <p:spPr/>
        <p:txBody>
          <a:bodyPr/>
          <a:lstStyle/>
          <a:p>
            <a:fld id="{4571CF2D-5AC2-4B36-9F0D-1B43C43900A0}" type="slidenum">
              <a:rPr lang="en-GB" smtClean="0"/>
              <a:t>‹#›</a:t>
            </a:fld>
            <a:endParaRPr lang="en-GB"/>
          </a:p>
        </p:txBody>
      </p:sp>
    </p:spTree>
    <p:extLst>
      <p:ext uri="{BB962C8B-B14F-4D97-AF65-F5344CB8AC3E}">
        <p14:creationId xmlns:p14="http://schemas.microsoft.com/office/powerpoint/2010/main" val="1790550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3CD287-8BCF-1EC7-DC19-920794F79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011FF7E-7CAF-3B70-A917-033149004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48D050E-026E-456A-D68E-D90EA801C6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2C27BA-D5BD-4769-9B07-035356A1D698}" type="datetimeFigureOut">
              <a:rPr lang="en-GB" smtClean="0"/>
              <a:t>03/06/2026</a:t>
            </a:fld>
            <a:endParaRPr lang="en-GB"/>
          </a:p>
        </p:txBody>
      </p:sp>
      <p:sp>
        <p:nvSpPr>
          <p:cNvPr id="5" name="Footer Placeholder 4">
            <a:extLst>
              <a:ext uri="{FF2B5EF4-FFF2-40B4-BE49-F238E27FC236}">
                <a16:creationId xmlns:a16="http://schemas.microsoft.com/office/drawing/2014/main" id="{A7D44681-AAB3-60A7-DEFC-4C5773FB1B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5392C1C-FDD6-7FCB-C715-6A5BE3FE6D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71CF2D-5AC2-4B36-9F0D-1B43C43900A0}" type="slidenum">
              <a:rPr lang="en-GB" smtClean="0"/>
              <a:t>‹#›</a:t>
            </a:fld>
            <a:endParaRPr lang="en-GB"/>
          </a:p>
        </p:txBody>
      </p:sp>
    </p:spTree>
    <p:extLst>
      <p:ext uri="{BB962C8B-B14F-4D97-AF65-F5344CB8AC3E}">
        <p14:creationId xmlns:p14="http://schemas.microsoft.com/office/powerpoint/2010/main" val="1198415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CD384E-40E6-329B-A8F7-9974EAE03ED2}"/>
              </a:ext>
            </a:extLst>
          </p:cNvPr>
          <p:cNvSpPr>
            <a:spLocks noGrp="1"/>
          </p:cNvSpPr>
          <p:nvPr>
            <p:ph idx="1"/>
          </p:nvPr>
        </p:nvSpPr>
        <p:spPr>
          <a:xfrm>
            <a:off x="778566" y="1096755"/>
            <a:ext cx="10515600" cy="4351338"/>
          </a:xfrm>
        </p:spPr>
        <p:txBody>
          <a:bodyPr/>
          <a:lstStyle/>
          <a:p>
            <a:pPr marL="0" indent="0" algn="ctr">
              <a:buNone/>
            </a:pPr>
            <a:r>
              <a:rPr lang="en-GB"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p>
          <a:p>
            <a:pPr marL="0" indent="0" algn="ctr">
              <a:buNone/>
            </a:pPr>
            <a:endParaRPr lang="en-GB" b="1" dirty="0">
              <a:latin typeface="Times New Roman" panose="02020603050405020304" pitchFamily="18" charset="0"/>
              <a:cs typeface="Times New Roman" panose="02020603050405020304" pitchFamily="18" charset="0"/>
            </a:endParaRPr>
          </a:p>
          <a:p>
            <a:pPr marL="0" indent="0" algn="ctr">
              <a:buNone/>
            </a:pPr>
            <a:endParaRPr lang="en-GB" b="1" dirty="0">
              <a:latin typeface="Times New Roman" panose="02020603050405020304" pitchFamily="18" charset="0"/>
              <a:cs typeface="Times New Roman" panose="02020603050405020304" pitchFamily="18" charset="0"/>
            </a:endParaRPr>
          </a:p>
          <a:p>
            <a:pPr marL="0" indent="0" algn="ctr">
              <a:buNone/>
            </a:pPr>
            <a:r>
              <a:rPr lang="en-GB" b="1" dirty="0">
                <a:latin typeface="Times New Roman" panose="02020603050405020304" pitchFamily="18" charset="0"/>
                <a:cs typeface="Times New Roman" panose="02020603050405020304" pitchFamily="18" charset="0"/>
              </a:rPr>
              <a:t>Initial Data Visualization And PYPSA Model Inventory</a:t>
            </a:r>
            <a:endParaRPr lang="en-GB" dirty="0"/>
          </a:p>
        </p:txBody>
      </p:sp>
    </p:spTree>
    <p:extLst>
      <p:ext uri="{BB962C8B-B14F-4D97-AF65-F5344CB8AC3E}">
        <p14:creationId xmlns:p14="http://schemas.microsoft.com/office/powerpoint/2010/main" val="1161150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DB86B-203D-2984-6B69-F5686700A5F0}"/>
              </a:ext>
            </a:extLst>
          </p:cNvPr>
          <p:cNvSpPr>
            <a:spLocks noGrp="1"/>
          </p:cNvSpPr>
          <p:nvPr>
            <p:ph type="ctrTitle"/>
          </p:nvPr>
        </p:nvSpPr>
        <p:spPr>
          <a:xfrm>
            <a:off x="1385146" y="104449"/>
            <a:ext cx="9144000" cy="547411"/>
          </a:xfrm>
        </p:spPr>
        <p:txBody>
          <a:bodyPr>
            <a:noAutofit/>
          </a:bodyPr>
          <a:lstStyle/>
          <a:p>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D6085C-38E8-6694-0B52-79331480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626" y="868191"/>
            <a:ext cx="6374296" cy="5691809"/>
          </a:xfrm>
          <a:prstGeom prst="rect">
            <a:avLst/>
          </a:prstGeom>
        </p:spPr>
      </p:pic>
      <p:sp>
        <p:nvSpPr>
          <p:cNvPr id="10" name="Caption S1"/>
          <p:cNvSpPr>
            <a:spLocks noGrp="1"/>
          </p:cNvSpPr>
          <p:nvPr/>
        </p:nvSpPr>
        <p:spPr>
          <a:xfrm>
            <a:off x="240453" y="6286294"/>
            <a:ext cx="11277600" cy="547411"/>
          </a:xfrm>
          <a:prstGeom prst="rect">
            <a:avLst/>
          </a:prstGeom>
          <a:solidFill>
            <a:srgbClr val="003688"/>
          </a:solidFill>
        </p:spPr>
        <p:txBody>
          <a:bodyPr lIns="91440" tIns="45720" rIns="91440" bIns="45720"/>
          <a:lstStyle/>
          <a:p>
            <a:pPr algn="ctr"/>
            <a:r>
              <a:rPr lang="en-GB" sz="1400" b="1" dirty="0">
                <a:solidFill>
                  <a:srgbClr val="FFFFFF"/>
                </a:solidFill>
                <a:latin typeface="Calibri"/>
              </a:rPr>
              <a:t>Figure 1 — Orkney Power Network Topology | Real PyPSA model: 17 buses, transmission lines, transformers, wind farms, tidal generators and battery storage at Kirkwall</a:t>
            </a:r>
          </a:p>
        </p:txBody>
      </p:sp>
      <p:sp>
        <p:nvSpPr>
          <p:cNvPr id="11" name="Explain S1"/>
          <p:cNvSpPr>
            <a:spLocks noGrp="1"/>
          </p:cNvSpPr>
          <p:nvPr/>
        </p:nvSpPr>
        <p:spPr>
          <a:xfrm>
            <a:off x="7381461" y="1046383"/>
            <a:ext cx="4658139" cy="2001617"/>
          </a:xfrm>
          <a:prstGeom prst="rect">
            <a:avLst/>
          </a:prstGeom>
          <a:solidFill>
            <a:srgbClr val="E8EEF7"/>
          </a:solidFill>
        </p:spPr>
        <p:txBody>
          <a:bodyPr lIns="91440" tIns="91440" rIns="91440" bIns="91440"/>
          <a:lstStyle/>
          <a:p>
            <a:r>
              <a:rPr lang="en-GB" sz="1100" b="1" dirty="0">
                <a:solidFill>
                  <a:srgbClr val="003688"/>
                </a:solidFill>
                <a:latin typeface="Calibri"/>
              </a:rPr>
              <a:t>Power Topology</a:t>
            </a:r>
          </a:p>
          <a:p>
            <a:r>
              <a:rPr lang="en-GB" sz="1000" dirty="0">
                <a:latin typeface="Calibri"/>
              </a:rPr>
              <a:t> </a:t>
            </a:r>
          </a:p>
          <a:p>
            <a:r>
              <a:rPr lang="en-GB" sz="1000" dirty="0">
                <a:latin typeface="Calibri"/>
              </a:rPr>
              <a:t>This is the real Orkney AC power network modelled in PyPSA. This study runs a full AC power flow — capturing voltage, reactive power and thermal line limits.</a:t>
            </a:r>
          </a:p>
          <a:p>
            <a:r>
              <a:rPr lang="en-GB" sz="1000" dirty="0">
                <a:latin typeface="Calibri"/>
              </a:rPr>
              <a:t> </a:t>
            </a:r>
          </a:p>
          <a:p>
            <a:r>
              <a:rPr lang="en-GB" sz="1000" dirty="0">
                <a:latin typeface="Calibri"/>
              </a:rPr>
              <a:t>The mainland interconnector (bottom of map) is the critical constraint — all surplus generation must flow through it to reach Scottish consumers. This constraint is the novel focus of the dissertation.</a:t>
            </a:r>
          </a:p>
        </p:txBody>
      </p:sp>
    </p:spTree>
    <p:extLst>
      <p:ext uri="{BB962C8B-B14F-4D97-AF65-F5344CB8AC3E}">
        <p14:creationId xmlns:p14="http://schemas.microsoft.com/office/powerpoint/2010/main" val="1035776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B5540-3FF9-D0E2-048E-34F896342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2979F-1070-8AF5-5668-4E1BE0A7D016}"/>
              </a:ext>
            </a:extLst>
          </p:cNvPr>
          <p:cNvSpPr>
            <a:spLocks noGrp="1"/>
          </p:cNvSpPr>
          <p:nvPr>
            <p:ph type="ctrTitle"/>
          </p:nvPr>
        </p:nvSpPr>
        <p:spPr>
          <a:xfrm>
            <a:off x="1469812" y="175161"/>
            <a:ext cx="9144000" cy="594426"/>
          </a:xfrm>
        </p:spPr>
        <p:txBody>
          <a:bodyPr>
            <a:noAutofit/>
          </a:bodyPr>
          <a:lstStyle/>
          <a:p>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37E27F-5DC7-991C-6F5A-7B7D9C660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4337" y="1014373"/>
            <a:ext cx="7626870" cy="5371253"/>
          </a:xfrm>
          <a:prstGeom prst="rect">
            <a:avLst/>
          </a:prstGeom>
        </p:spPr>
      </p:pic>
      <p:sp>
        <p:nvSpPr>
          <p:cNvPr id="10" name="Caption"/>
          <p:cNvSpPr>
            <a:spLocks noGrp="1"/>
          </p:cNvSpPr>
          <p:nvPr/>
        </p:nvSpPr>
        <p:spPr>
          <a:xfrm>
            <a:off x="403012" y="6065625"/>
            <a:ext cx="11277600" cy="547411"/>
          </a:xfrm>
          <a:prstGeom prst="rect">
            <a:avLst/>
          </a:prstGeom>
          <a:solidFill>
            <a:srgbClr val="003688"/>
          </a:solidFill>
        </p:spPr>
        <p:txBody>
          <a:bodyPr lIns="91440" tIns="45720" rIns="91440" bIns="45720"/>
          <a:lstStyle/>
          <a:p>
            <a:pPr algn="ctr"/>
            <a:r>
              <a:rPr lang="en-GB" sz="1400" b="1" dirty="0">
                <a:solidFill>
                  <a:srgbClr val="FFFFFF"/>
                </a:solidFill>
                <a:latin typeface="Calibri"/>
              </a:rPr>
              <a:t>Figure 2 — Resource Overview Timeseries | Wave (teal), Combined Wind (blue) and Demand (amber) across all 8,760 hours of 2019. Both wave and wind are winter-peaking. 86 zero-output wave hours visible as flat baseline sections.</a:t>
            </a:r>
          </a:p>
        </p:txBody>
      </p:sp>
      <p:sp>
        <p:nvSpPr>
          <p:cNvPr id="11" name="Explanation"/>
          <p:cNvSpPr>
            <a:spLocks noGrp="1"/>
          </p:cNvSpPr>
          <p:nvPr/>
        </p:nvSpPr>
        <p:spPr>
          <a:xfrm>
            <a:off x="403012" y="1980533"/>
            <a:ext cx="3105573" cy="2449227"/>
          </a:xfrm>
          <a:prstGeom prst="rect">
            <a:avLst/>
          </a:prstGeom>
          <a:solidFill>
            <a:srgbClr val="E8EEF7"/>
          </a:solidFill>
        </p:spPr>
        <p:txBody>
          <a:bodyPr lIns="91440" tIns="91440" rIns="91440" bIns="91440"/>
          <a:lstStyle/>
          <a:p>
            <a:r>
              <a:rPr lang="en-GB" sz="1100" b="1" dirty="0">
                <a:solidFill>
                  <a:srgbClr val="003688"/>
                </a:solidFill>
                <a:latin typeface="Calibri"/>
              </a:rPr>
              <a:t>Key insight</a:t>
            </a:r>
          </a:p>
          <a:p>
            <a:r>
              <a:rPr lang="en-GB" sz="1000" dirty="0">
                <a:latin typeface="Calibri"/>
              </a:rPr>
              <a:t>Wave and wind both peak in winter when Atlantic storms drive high wave heights and wind speeds — and demand also peaks in winter. This seasonal alignment is favourable for Orkney's grid.</a:t>
            </a:r>
          </a:p>
          <a:p>
            <a:r>
              <a:rPr lang="en-GB" sz="1000" dirty="0">
                <a:latin typeface="Calibri"/>
              </a:rPr>
              <a:t> </a:t>
            </a:r>
          </a:p>
          <a:p>
            <a:r>
              <a:rPr lang="en-GB" sz="1000" dirty="0">
                <a:latin typeface="Calibri"/>
              </a:rPr>
              <a:t>From the wave profile, there 86 zero-output wave hours (calm seas or extreme storms) and these are the periods the grid is most exposed. These motivate the Resource Versatility (RV) metric — how often wave fills gaps when wind is also low. To be calculated subsequently.</a:t>
            </a:r>
          </a:p>
          <a:p>
            <a:r>
              <a:rPr lang="en-GB" sz="1000" dirty="0">
                <a:latin typeface="Calibri"/>
              </a:rPr>
              <a:t> </a:t>
            </a:r>
          </a:p>
          <a:p>
            <a:r>
              <a:rPr lang="en-GB" sz="1000" b="1" dirty="0">
                <a:latin typeface="Calibri"/>
              </a:rPr>
              <a:t>NOTE: </a:t>
            </a:r>
            <a:r>
              <a:rPr lang="en-GB" sz="1000" dirty="0">
                <a:latin typeface="Calibri"/>
              </a:rPr>
              <a:t>Tidal is excluded from this plot — it operates as a constant 11.6 MW baseload (EMEC 4 MW + Eday 7.6 MW) and adds no temporal information.</a:t>
            </a:r>
          </a:p>
        </p:txBody>
      </p:sp>
    </p:spTree>
    <p:extLst>
      <p:ext uri="{BB962C8B-B14F-4D97-AF65-F5344CB8AC3E}">
        <p14:creationId xmlns:p14="http://schemas.microsoft.com/office/powerpoint/2010/main" val="340461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2583-DD18-2560-2D35-747A06DE2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F41BE-B781-8103-5506-704903209F80}"/>
              </a:ext>
            </a:extLst>
          </p:cNvPr>
          <p:cNvSpPr>
            <a:spLocks noGrp="1"/>
          </p:cNvSpPr>
          <p:nvPr>
            <p:ph type="ctrTitle"/>
          </p:nvPr>
        </p:nvSpPr>
        <p:spPr>
          <a:xfrm>
            <a:off x="1524000" y="78323"/>
            <a:ext cx="9144000" cy="547411"/>
          </a:xfrm>
        </p:spPr>
        <p:txBody>
          <a:bodyPr>
            <a:noAutofit/>
          </a:bodyPr>
          <a:lstStyle/>
          <a:p>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B945CCD-3320-FE2D-1DCD-9BAAA768F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459" y="697441"/>
            <a:ext cx="8474764" cy="5630851"/>
          </a:xfrm>
          <a:prstGeom prst="rect">
            <a:avLst/>
          </a:prstGeom>
        </p:spPr>
      </p:pic>
      <p:sp>
        <p:nvSpPr>
          <p:cNvPr id="10" name="Caption"/>
          <p:cNvSpPr>
            <a:spLocks noGrp="1"/>
          </p:cNvSpPr>
          <p:nvPr/>
        </p:nvSpPr>
        <p:spPr>
          <a:xfrm>
            <a:off x="457200" y="6400000"/>
            <a:ext cx="11277600" cy="320000"/>
          </a:xfrm>
          <a:prstGeom prst="rect">
            <a:avLst/>
          </a:prstGeom>
          <a:solidFill>
            <a:srgbClr val="003688"/>
          </a:solidFill>
        </p:spPr>
        <p:txBody>
          <a:bodyPr lIns="91440" tIns="45720" rIns="91440" bIns="45720"/>
          <a:lstStyle/>
          <a:p>
            <a:r>
              <a:rPr lang="en-GB" sz="1000" b="1" dirty="0">
                <a:solidFill>
                  <a:srgbClr val="FFFFFF"/>
                </a:solidFill>
                <a:latin typeface="Calibri"/>
              </a:rPr>
              <a:t>Figure 3 — Monthly Capacity Factors | Wave annual CF = 0.41, Wind annual CF = 0.47. Both winter-peaking. Wave CF drops to 0.13 in July; exceptional March wave CF = 0.74. Dashed lines show annual means. Confirms seasonal complementarity with demand.</a:t>
            </a:r>
          </a:p>
        </p:txBody>
      </p:sp>
      <p:sp>
        <p:nvSpPr>
          <p:cNvPr id="11" name="Explanation"/>
          <p:cNvSpPr>
            <a:spLocks noGrp="1"/>
          </p:cNvSpPr>
          <p:nvPr/>
        </p:nvSpPr>
        <p:spPr>
          <a:xfrm>
            <a:off x="128693" y="1100001"/>
            <a:ext cx="3049766" cy="2456000"/>
          </a:xfrm>
          <a:prstGeom prst="rect">
            <a:avLst/>
          </a:prstGeom>
          <a:solidFill>
            <a:srgbClr val="E8EEF7"/>
          </a:solidFill>
        </p:spPr>
        <p:txBody>
          <a:bodyPr lIns="91440" tIns="91440" rIns="91440" bIns="91440"/>
          <a:lstStyle/>
          <a:p>
            <a:r>
              <a:rPr lang="en-GB" sz="1100" b="1" dirty="0">
                <a:solidFill>
                  <a:srgbClr val="003688"/>
                </a:solidFill>
                <a:latin typeface="Calibri"/>
              </a:rPr>
              <a:t>Key insight</a:t>
            </a:r>
          </a:p>
          <a:p>
            <a:r>
              <a:rPr lang="en-GB" sz="1000" dirty="0">
                <a:latin typeface="Calibri"/>
              </a:rPr>
              <a:t>March 2019 was exceptionally energetic: wave CF of 0.74, the highest month of the year, driven by strong Atlantic storm activity. This matches Figure 5's dark green March column.</a:t>
            </a:r>
          </a:p>
          <a:p>
            <a:r>
              <a:rPr lang="en-GB" sz="1000" dirty="0">
                <a:latin typeface="Calibri"/>
              </a:rPr>
              <a:t> </a:t>
            </a:r>
          </a:p>
          <a:p>
            <a:r>
              <a:rPr lang="en-GB" sz="1000" dirty="0">
                <a:latin typeface="Calibri"/>
              </a:rPr>
              <a:t>Wave shows more extreme seasonal variation than wind (range 0.60 CF units vs 0.35 for wind). Wave capacity is less evenly distributed across the year, a key grid planning consideration.</a:t>
            </a:r>
          </a:p>
          <a:p>
            <a:r>
              <a:rPr lang="en-GB" sz="1000" dirty="0">
                <a:latin typeface="Calibri"/>
              </a:rPr>
              <a:t> </a:t>
            </a:r>
          </a:p>
          <a:p>
            <a:r>
              <a:rPr lang="en-GB" sz="1000" dirty="0">
                <a:latin typeface="Calibri"/>
              </a:rPr>
              <a:t>Both resources peak in winter when demand also peaks, a favourable characteristic. But both weaken simultaneously in summer, creating the vulnerability window shown in Figure 5.</a:t>
            </a:r>
          </a:p>
        </p:txBody>
      </p:sp>
    </p:spTree>
    <p:extLst>
      <p:ext uri="{BB962C8B-B14F-4D97-AF65-F5344CB8AC3E}">
        <p14:creationId xmlns:p14="http://schemas.microsoft.com/office/powerpoint/2010/main" val="1936993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0DDC0-AF7C-5CC7-FE07-970D0ED97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4F3A2-87A1-8781-C6BA-DE5580C5A78C}"/>
              </a:ext>
            </a:extLst>
          </p:cNvPr>
          <p:cNvSpPr>
            <a:spLocks noGrp="1"/>
          </p:cNvSpPr>
          <p:nvPr>
            <p:ph type="ctrTitle"/>
          </p:nvPr>
        </p:nvSpPr>
        <p:spPr>
          <a:xfrm>
            <a:off x="1470991" y="519389"/>
            <a:ext cx="9144000" cy="547411"/>
          </a:xfrm>
        </p:spPr>
        <p:txBody>
          <a:bodyPr>
            <a:noAutofit/>
          </a:bodyPr>
          <a:lstStyle/>
          <a:p>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96B758B-3840-065B-AB85-589B9EC7A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773" y="1384052"/>
            <a:ext cx="5950227" cy="5015948"/>
          </a:xfrm>
          <a:prstGeom prst="rect">
            <a:avLst/>
          </a:prstGeom>
        </p:spPr>
      </p:pic>
      <p:sp>
        <p:nvSpPr>
          <p:cNvPr id="10" name="Caption"/>
          <p:cNvSpPr>
            <a:spLocks noGrp="1"/>
          </p:cNvSpPr>
          <p:nvPr/>
        </p:nvSpPr>
        <p:spPr>
          <a:xfrm>
            <a:off x="404191" y="6400000"/>
            <a:ext cx="11277600" cy="429999"/>
          </a:xfrm>
          <a:prstGeom prst="rect">
            <a:avLst/>
          </a:prstGeom>
          <a:solidFill>
            <a:srgbClr val="003688"/>
          </a:solidFill>
        </p:spPr>
        <p:txBody>
          <a:bodyPr lIns="91440" tIns="45720" rIns="91440" bIns="45720"/>
          <a:lstStyle/>
          <a:p>
            <a:pPr algn="ctr"/>
            <a:r>
              <a:rPr lang="en-GB" sz="1400" b="1" dirty="0">
                <a:solidFill>
                  <a:srgbClr val="FFFFFF"/>
                </a:solidFill>
                <a:latin typeface="Calibri"/>
              </a:rPr>
              <a:t>Figure 4: Wave vs Wind Hourly Scatter | r = 0.200, p &lt; 0.001 </a:t>
            </a:r>
          </a:p>
        </p:txBody>
      </p:sp>
      <p:sp>
        <p:nvSpPr>
          <p:cNvPr id="3" name="Explanation"/>
          <p:cNvSpPr>
            <a:spLocks noGrp="1"/>
          </p:cNvSpPr>
          <p:nvPr/>
        </p:nvSpPr>
        <p:spPr>
          <a:xfrm>
            <a:off x="6234800" y="1788586"/>
            <a:ext cx="5500000" cy="2336373"/>
          </a:xfrm>
          <a:prstGeom prst="rect">
            <a:avLst/>
          </a:prstGeom>
          <a:solidFill>
            <a:srgbClr val="E8EEF7"/>
          </a:solidFill>
        </p:spPr>
        <p:txBody>
          <a:bodyPr lIns="91440" tIns="45720" rIns="91440" bIns="45720"/>
          <a:lstStyle/>
          <a:p>
            <a:r>
              <a:rPr lang="en-GB" sz="1000" b="1" dirty="0">
                <a:solidFill>
                  <a:srgbClr val="003688"/>
                </a:solidFill>
                <a:latin typeface="Calibri"/>
              </a:rPr>
              <a:t>Key insights: </a:t>
            </a:r>
            <a:r>
              <a:rPr lang="en-GB" sz="1000" dirty="0"/>
              <a:t>Wave and wind are correlated at r = 0.200, which is precisely the complementarity property that justifies adding wave capacity to the Orkney wind-dominated grid.</a:t>
            </a:r>
          </a:p>
          <a:p>
            <a:endParaRPr lang="en-GB" sz="1000" dirty="0">
              <a:latin typeface="Calibri"/>
            </a:endParaRPr>
          </a:p>
          <a:p>
            <a:r>
              <a:rPr lang="en-GB" sz="1000" dirty="0"/>
              <a:t>The green bar chart along the top shows how Wave behaves on its own across the year. You can see it has a huge spike on the right,  meaning Wave spends a lot of hours near full output. It also has a big bar on the left, meaning it also spends quite a few hours at zero or near zero. There is relatively little in the middle. This is what the </a:t>
            </a:r>
            <a:r>
              <a:rPr lang="en-GB" sz="1000" dirty="0" err="1"/>
              <a:t>CorPower</a:t>
            </a:r>
            <a:r>
              <a:rPr lang="en-GB" sz="1000" dirty="0"/>
              <a:t> device does: during big Atlantic swells it runs at full power, during calm summers it shuts down, and it moves between the two fairly quickly.</a:t>
            </a:r>
          </a:p>
          <a:p>
            <a:endParaRPr lang="en-GB" sz="1000" dirty="0"/>
          </a:p>
          <a:p>
            <a:r>
              <a:rPr lang="en-GB" sz="1000" dirty="0"/>
              <a:t>The blue bar chart on the right side shows Wind on its own. Wind has a completely different shape: a tall spike on the left meaning it spends lots of hours at low output, then gradually fewer hours as output increases. Wind is almost never at full rated output.</a:t>
            </a:r>
          </a:p>
          <a:p>
            <a:endParaRPr lang="en-GB" sz="1000" dirty="0">
              <a:latin typeface="Calibri"/>
            </a:endParaRPr>
          </a:p>
        </p:txBody>
      </p:sp>
    </p:spTree>
    <p:extLst>
      <p:ext uri="{BB962C8B-B14F-4D97-AF65-F5344CB8AC3E}">
        <p14:creationId xmlns:p14="http://schemas.microsoft.com/office/powerpoint/2010/main" val="289985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71CA-7212-1D89-553C-C12D8104467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0082AD-9B8C-3C0B-B50B-14DF0CD0A3E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332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88020-AAE7-B0F1-53E7-D3A38946F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166307-FC5C-A5E9-9574-735F6292D327}"/>
              </a:ext>
            </a:extLst>
          </p:cNvPr>
          <p:cNvSpPr>
            <a:spLocks noGrp="1"/>
          </p:cNvSpPr>
          <p:nvPr>
            <p:ph type="ctrTitle"/>
          </p:nvPr>
        </p:nvSpPr>
        <p:spPr>
          <a:xfrm>
            <a:off x="1470991" y="519389"/>
            <a:ext cx="9144000" cy="547411"/>
          </a:xfrm>
        </p:spPr>
        <p:txBody>
          <a:bodyPr>
            <a:noAutofit/>
          </a:bodyPr>
          <a:lstStyle/>
          <a:p>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2E5BF08-981A-1EAE-52A7-E4C2761E6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66800"/>
            <a:ext cx="6521272" cy="5188226"/>
          </a:xfrm>
          <a:prstGeom prst="rect">
            <a:avLst/>
          </a:prstGeom>
        </p:spPr>
      </p:pic>
      <p:sp>
        <p:nvSpPr>
          <p:cNvPr id="10" name="Caption">
            <a:extLst>
              <a:ext uri="{FF2B5EF4-FFF2-40B4-BE49-F238E27FC236}">
                <a16:creationId xmlns:a16="http://schemas.microsoft.com/office/drawing/2014/main" id="{732173C4-1D96-511E-B5F6-F1D9730CB91D}"/>
              </a:ext>
            </a:extLst>
          </p:cNvPr>
          <p:cNvSpPr>
            <a:spLocks noGrp="1"/>
          </p:cNvSpPr>
          <p:nvPr/>
        </p:nvSpPr>
        <p:spPr>
          <a:xfrm>
            <a:off x="457200" y="6400000"/>
            <a:ext cx="11277600" cy="320000"/>
          </a:xfrm>
          <a:prstGeom prst="rect">
            <a:avLst/>
          </a:prstGeom>
          <a:solidFill>
            <a:srgbClr val="003688"/>
          </a:solidFill>
        </p:spPr>
        <p:txBody>
          <a:bodyPr lIns="91440" tIns="45720" rIns="91440" bIns="45720"/>
          <a:lstStyle/>
          <a:p>
            <a:pPr algn="ctr"/>
            <a:r>
              <a:rPr lang="en-GB" sz="1400" b="1" dirty="0">
                <a:solidFill>
                  <a:srgbClr val="FFFFFF"/>
                </a:solidFill>
                <a:latin typeface="Calibri"/>
              </a:rPr>
              <a:t>Figure  5 — The Combined Output Heatmap</a:t>
            </a:r>
          </a:p>
        </p:txBody>
      </p:sp>
      <p:sp>
        <p:nvSpPr>
          <p:cNvPr id="4" name="Explanation">
            <a:extLst>
              <a:ext uri="{FF2B5EF4-FFF2-40B4-BE49-F238E27FC236}">
                <a16:creationId xmlns:a16="http://schemas.microsoft.com/office/drawing/2014/main" id="{AEC3A7C3-B382-F799-5ACB-3538BB68CA26}"/>
              </a:ext>
            </a:extLst>
          </p:cNvPr>
          <p:cNvSpPr>
            <a:spLocks noGrp="1"/>
          </p:cNvSpPr>
          <p:nvPr/>
        </p:nvSpPr>
        <p:spPr>
          <a:xfrm>
            <a:off x="7064586" y="1788587"/>
            <a:ext cx="4670213" cy="1640414"/>
          </a:xfrm>
          <a:prstGeom prst="rect">
            <a:avLst/>
          </a:prstGeom>
          <a:solidFill>
            <a:srgbClr val="E8EEF7"/>
          </a:solidFill>
        </p:spPr>
        <p:txBody>
          <a:bodyPr lIns="91440" tIns="45720" rIns="91440" bIns="45720"/>
          <a:lstStyle/>
          <a:p>
            <a:r>
              <a:rPr lang="en-GB" sz="1000" b="1" dirty="0">
                <a:solidFill>
                  <a:srgbClr val="003688"/>
                </a:solidFill>
                <a:latin typeface="Calibri"/>
              </a:rPr>
              <a:t>Key insights: </a:t>
            </a:r>
            <a:r>
              <a:rPr lang="en-GB" sz="1000" b="1" dirty="0"/>
              <a:t>March is the strongest month of 2019</a:t>
            </a:r>
            <a:endParaRPr lang="en-GB" sz="1000" dirty="0"/>
          </a:p>
          <a:p>
            <a:r>
              <a:rPr lang="en-GB" sz="1000" dirty="0"/>
              <a:t>The darkest green column across the entire heatmap is March, darker than even January and February. This confirms that March 2019 was an exceptionally energetic month for both wave and wind simultaneously, with wave capacity factor reaching 0.74, the highest of the year. </a:t>
            </a:r>
          </a:p>
          <a:p>
            <a:endParaRPr lang="en-GB" sz="1000" dirty="0"/>
          </a:p>
          <a:p>
            <a:r>
              <a:rPr lang="en-GB" sz="1000" b="1" dirty="0"/>
              <a:t> The vulnerability confirms why adding wave is critical in summer</a:t>
            </a:r>
            <a:endParaRPr lang="en-GB" sz="1000" dirty="0"/>
          </a:p>
          <a:p>
            <a:r>
              <a:rPr lang="en-GB" sz="1000" dirty="0"/>
              <a:t>The orange-red cells in June and July directly map onto your grid constraint analysis. Those are precisely the months when Orkney must balance the supply using other generators</a:t>
            </a:r>
          </a:p>
        </p:txBody>
      </p:sp>
    </p:spTree>
    <p:extLst>
      <p:ext uri="{BB962C8B-B14F-4D97-AF65-F5344CB8AC3E}">
        <p14:creationId xmlns:p14="http://schemas.microsoft.com/office/powerpoint/2010/main" val="233156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EECB-3B37-8752-C22D-721AFC4846E0}"/>
              </a:ext>
            </a:extLst>
          </p:cNvPr>
          <p:cNvSpPr>
            <a:spLocks noGrp="1"/>
          </p:cNvSpPr>
          <p:nvPr>
            <p:ph type="title"/>
          </p:nvPr>
        </p:nvSpPr>
        <p:spPr>
          <a:xfrm>
            <a:off x="838200" y="365126"/>
            <a:ext cx="10515600" cy="741431"/>
          </a:xfrm>
        </p:spPr>
        <p:txBody>
          <a:bodyPr>
            <a:normAutofit/>
          </a:bodyPr>
          <a:lstStyle/>
          <a:p>
            <a:pPr algn="ctr"/>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p>
        </p:txBody>
      </p:sp>
      <p:pic>
        <p:nvPicPr>
          <p:cNvPr id="5" name="Picture 4">
            <a:extLst>
              <a:ext uri="{FF2B5EF4-FFF2-40B4-BE49-F238E27FC236}">
                <a16:creationId xmlns:a16="http://schemas.microsoft.com/office/drawing/2014/main" id="{38A7E6DD-FC3B-C8CB-FC59-77B84C653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7724" y="1100000"/>
            <a:ext cx="8647044" cy="5432787"/>
          </a:xfrm>
          <a:prstGeom prst="rect">
            <a:avLst/>
          </a:prstGeom>
        </p:spPr>
      </p:pic>
      <p:sp>
        <p:nvSpPr>
          <p:cNvPr id="10" name="Caption"/>
          <p:cNvSpPr>
            <a:spLocks noGrp="1"/>
          </p:cNvSpPr>
          <p:nvPr/>
        </p:nvSpPr>
        <p:spPr>
          <a:xfrm>
            <a:off x="712672" y="6242233"/>
            <a:ext cx="11367568" cy="615767"/>
          </a:xfrm>
          <a:prstGeom prst="rect">
            <a:avLst/>
          </a:prstGeom>
          <a:solidFill>
            <a:srgbClr val="003688"/>
          </a:solidFill>
        </p:spPr>
        <p:txBody>
          <a:bodyPr lIns="91440" tIns="45720" rIns="91440" bIns="45720"/>
          <a:lstStyle/>
          <a:p>
            <a:pPr algn="ctr"/>
            <a:r>
              <a:rPr lang="en-GB" sz="1200" b="1" dirty="0">
                <a:solidFill>
                  <a:schemeClr val="bg1"/>
                </a:solidFill>
                <a:latin typeface="Calibri"/>
              </a:rPr>
              <a:t>Figure 6 — </a:t>
            </a:r>
            <a:r>
              <a:rPr lang="en-GB" sz="1200" dirty="0">
                <a:solidFill>
                  <a:schemeClr val="bg1"/>
                </a:solidFill>
              </a:rPr>
              <a:t>Monthly Mean Demand vs Variable Renewable Generation (30 MW wave scenario) | Variable renewables only — wind plus wave. Tidal baseload (EMEC 4 MW + </a:t>
            </a:r>
            <a:r>
              <a:rPr lang="en-GB" sz="1200" dirty="0" err="1">
                <a:solidFill>
                  <a:schemeClr val="bg1"/>
                </a:solidFill>
              </a:rPr>
              <a:t>Eday</a:t>
            </a:r>
            <a:r>
              <a:rPr lang="en-GB" sz="1200" dirty="0">
                <a:solidFill>
                  <a:schemeClr val="bg1"/>
                </a:solidFill>
              </a:rPr>
              <a:t> 7.6 MW = 11.6 MW constant) and battery storage not included. Full system balance including all generators and interconnector flows is captured in the </a:t>
            </a:r>
            <a:r>
              <a:rPr lang="en-GB" sz="1200" dirty="0" err="1">
                <a:solidFill>
                  <a:schemeClr val="bg1"/>
                </a:solidFill>
              </a:rPr>
              <a:t>PyPSA</a:t>
            </a:r>
            <a:r>
              <a:rPr lang="en-GB" sz="1200" dirty="0">
                <a:solidFill>
                  <a:schemeClr val="bg1"/>
                </a:solidFill>
              </a:rPr>
              <a:t> scenario analysis.</a:t>
            </a:r>
            <a:endParaRPr lang="en-GB" sz="1200" b="1" dirty="0">
              <a:solidFill>
                <a:schemeClr val="bg1"/>
              </a:solidFill>
              <a:latin typeface="Calibri"/>
            </a:endParaRPr>
          </a:p>
        </p:txBody>
      </p:sp>
      <p:sp>
        <p:nvSpPr>
          <p:cNvPr id="11" name="Explanation"/>
          <p:cNvSpPr>
            <a:spLocks noGrp="1"/>
          </p:cNvSpPr>
          <p:nvPr/>
        </p:nvSpPr>
        <p:spPr>
          <a:xfrm>
            <a:off x="284480" y="1100000"/>
            <a:ext cx="2783840" cy="2794667"/>
          </a:xfrm>
          <a:prstGeom prst="rect">
            <a:avLst/>
          </a:prstGeom>
          <a:solidFill>
            <a:srgbClr val="E8EEF7"/>
          </a:solidFill>
        </p:spPr>
        <p:txBody>
          <a:bodyPr lIns="91440" tIns="91440" rIns="91440" bIns="91440"/>
          <a:lstStyle/>
          <a:p>
            <a:r>
              <a:rPr lang="en-GB" sz="1000" b="1" dirty="0">
                <a:solidFill>
                  <a:srgbClr val="003688"/>
                </a:solidFill>
                <a:latin typeface="Times New Roman" panose="02020603050405020304" pitchFamily="18" charset="0"/>
                <a:cs typeface="Times New Roman" panose="02020603050405020304" pitchFamily="18" charset="0"/>
              </a:rPr>
              <a:t>Key insight</a:t>
            </a:r>
          </a:p>
          <a:p>
            <a:r>
              <a:rPr lang="en-GB" sz="1000" dirty="0">
                <a:latin typeface="Times New Roman" panose="02020603050405020304" pitchFamily="18" charset="0"/>
                <a:cs typeface="Times New Roman" panose="02020603050405020304" pitchFamily="18" charset="0"/>
              </a:rPr>
              <a:t>Figure 6 Isolates the variable renewable contribution showing exactly what wave adds to existing wind before any baseload is counted.  </a:t>
            </a:r>
          </a:p>
          <a:p>
            <a:r>
              <a:rPr lang="en-GB" sz="1000" dirty="0">
                <a:latin typeface="Times New Roman" panose="02020603050405020304" pitchFamily="18" charset="0"/>
                <a:cs typeface="Times New Roman" panose="02020603050405020304" pitchFamily="18" charset="0"/>
              </a:rPr>
              <a:t> </a:t>
            </a:r>
          </a:p>
          <a:p>
            <a:r>
              <a:rPr lang="en-GB" sz="1000" dirty="0">
                <a:latin typeface="Times New Roman" panose="02020603050405020304" pitchFamily="18" charset="0"/>
                <a:cs typeface="Times New Roman" panose="02020603050405020304" pitchFamily="18" charset="0"/>
              </a:rPr>
              <a:t>Adding </a:t>
            </a:r>
            <a:r>
              <a:rPr lang="en-GB" sz="1000" dirty="0" err="1">
                <a:latin typeface="Times New Roman" panose="02020603050405020304" pitchFamily="18" charset="0"/>
                <a:cs typeface="Times New Roman" panose="02020603050405020304" pitchFamily="18" charset="0"/>
              </a:rPr>
              <a:t>tidal's</a:t>
            </a:r>
            <a:r>
              <a:rPr lang="en-GB" sz="1000" dirty="0">
                <a:latin typeface="Times New Roman" panose="02020603050405020304" pitchFamily="18" charset="0"/>
                <a:cs typeface="Times New Roman" panose="02020603050405020304" pitchFamily="18" charset="0"/>
              </a:rPr>
              <a:t> constant 11.6 MW to every month would shift the green generation line upward uniformly, potentially flipping the summer shortfall into a slight surplus at 30 MW wave capacity. </a:t>
            </a:r>
          </a:p>
          <a:p>
            <a:endParaRPr lang="en-GB" sz="1000" dirty="0">
              <a:latin typeface="Times New Roman" panose="02020603050405020304" pitchFamily="18" charset="0"/>
              <a:cs typeface="Times New Roman" panose="02020603050405020304" pitchFamily="18" charset="0"/>
            </a:endParaRPr>
          </a:p>
          <a:p>
            <a:r>
              <a:rPr lang="en-GB" sz="1000" dirty="0">
                <a:latin typeface="Times New Roman" panose="02020603050405020304" pitchFamily="18" charset="0"/>
                <a:cs typeface="Times New Roman" panose="02020603050405020304" pitchFamily="18" charset="0"/>
              </a:rPr>
              <a:t>The real operational question is therefore not whether Orkney can cover demand, but whether the grid can handle the resulting export peaks in winter and variable renewable shortfall in summer. </a:t>
            </a:r>
          </a:p>
        </p:txBody>
      </p:sp>
    </p:spTree>
    <p:extLst>
      <p:ext uri="{BB962C8B-B14F-4D97-AF65-F5344CB8AC3E}">
        <p14:creationId xmlns:p14="http://schemas.microsoft.com/office/powerpoint/2010/main" val="3101427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55F7A-E0C4-58F7-B632-3C713AD2D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D7527-DD25-8CCD-F2EF-15C261AE7CC3}"/>
              </a:ext>
            </a:extLst>
          </p:cNvPr>
          <p:cNvSpPr>
            <a:spLocks noGrp="1"/>
          </p:cNvSpPr>
          <p:nvPr>
            <p:ph type="title"/>
          </p:nvPr>
        </p:nvSpPr>
        <p:spPr>
          <a:xfrm>
            <a:off x="838200" y="365126"/>
            <a:ext cx="10515600" cy="741431"/>
          </a:xfrm>
        </p:spPr>
        <p:txBody>
          <a:bodyPr>
            <a:normAutofit/>
          </a:bodyPr>
          <a:lstStyle/>
          <a:p>
            <a:pPr algn="ctr"/>
            <a:r>
              <a:rPr lang="en-GB" sz="1800" b="1" dirty="0">
                <a:latin typeface="Times New Roman" panose="02020603050405020304" pitchFamily="18" charset="0"/>
                <a:cs typeface="Times New Roman" panose="02020603050405020304" pitchFamily="18" charset="0"/>
              </a:rPr>
              <a:t>Assessing the Complementarity and Grid Integration Potential of Wave Energy in Orkney Under Current Grid Constraints</a:t>
            </a:r>
            <a:endParaRPr lang="en-GB" sz="1800" dirty="0"/>
          </a:p>
        </p:txBody>
      </p:sp>
      <p:pic>
        <p:nvPicPr>
          <p:cNvPr id="4" name="Picture 3">
            <a:extLst>
              <a:ext uri="{FF2B5EF4-FFF2-40B4-BE49-F238E27FC236}">
                <a16:creationId xmlns:a16="http://schemas.microsoft.com/office/drawing/2014/main" id="{A491D203-082A-1BB9-45A6-DB927966D0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1416" y="1351017"/>
            <a:ext cx="7353035" cy="4518991"/>
          </a:xfrm>
          <a:prstGeom prst="rect">
            <a:avLst/>
          </a:prstGeom>
        </p:spPr>
      </p:pic>
      <p:sp>
        <p:nvSpPr>
          <p:cNvPr id="10" name="Caption"/>
          <p:cNvSpPr>
            <a:spLocks noGrp="1"/>
          </p:cNvSpPr>
          <p:nvPr/>
        </p:nvSpPr>
        <p:spPr>
          <a:xfrm>
            <a:off x="457200" y="5954468"/>
            <a:ext cx="11277600" cy="538406"/>
          </a:xfrm>
          <a:prstGeom prst="rect">
            <a:avLst/>
          </a:prstGeom>
          <a:solidFill>
            <a:srgbClr val="003688"/>
          </a:solidFill>
        </p:spPr>
        <p:txBody>
          <a:bodyPr lIns="91440" tIns="45720" rIns="91440" bIns="45720"/>
          <a:lstStyle/>
          <a:p>
            <a:r>
              <a:rPr lang="en-GB" sz="1400" b="1" dirty="0">
                <a:solidFill>
                  <a:srgbClr val="FFFFFF"/>
                </a:solidFill>
                <a:latin typeface="Calibri"/>
              </a:rPr>
              <a:t>Figure 6: Resource Availability (Pennock et al. 2022 RA metric) | Wave RA(0.20) = 63.1%, Wind RA(0.20) = 67.1%. Wind is more consistently available at stricter thresholds due to its steadier output profile.</a:t>
            </a:r>
          </a:p>
        </p:txBody>
      </p:sp>
    </p:spTree>
    <p:extLst>
      <p:ext uri="{BB962C8B-B14F-4D97-AF65-F5344CB8AC3E}">
        <p14:creationId xmlns:p14="http://schemas.microsoft.com/office/powerpoint/2010/main" val="56863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63F7-8AD5-EA4D-D72B-06BDF1CFCA22}"/>
              </a:ext>
            </a:extLst>
          </p:cNvPr>
          <p:cNvSpPr>
            <a:spLocks noGrp="1"/>
          </p:cNvSpPr>
          <p:nvPr>
            <p:ph type="title"/>
          </p:nvPr>
        </p:nvSpPr>
        <p:spPr/>
        <p:txBody>
          <a:bodyPr/>
          <a:lstStyle/>
          <a:p>
            <a:r>
              <a:rPr lang="en-GB" dirty="0"/>
              <a:t>NEXT TASKS</a:t>
            </a:r>
          </a:p>
        </p:txBody>
      </p:sp>
      <p:sp>
        <p:nvSpPr>
          <p:cNvPr id="3" name="Content Placeholder 2">
            <a:extLst>
              <a:ext uri="{FF2B5EF4-FFF2-40B4-BE49-F238E27FC236}">
                <a16:creationId xmlns:a16="http://schemas.microsoft.com/office/drawing/2014/main" id="{2E13A565-3CCE-F5AC-70F5-06A3C0DD76E2}"/>
              </a:ext>
            </a:extLst>
          </p:cNvPr>
          <p:cNvSpPr>
            <a:spLocks noGrp="1"/>
          </p:cNvSpPr>
          <p:nvPr>
            <p:ph idx="1"/>
          </p:nvPr>
        </p:nvSpPr>
        <p:spPr>
          <a:xfrm>
            <a:off x="702275" y="1306641"/>
            <a:ext cx="10515600" cy="4581353"/>
          </a:xfrm>
        </p:spPr>
        <p:txBody>
          <a:bodyPr>
            <a:normAutofit fontScale="92500" lnSpcReduction="20000"/>
          </a:bodyPr>
          <a:lstStyle/>
          <a:p>
            <a:r>
              <a:rPr lang="en-GB" dirty="0"/>
              <a:t>Complete the CSV incorporation for the wave energy generation (changing from a hardcoded 7MW to time)</a:t>
            </a:r>
          </a:p>
          <a:p>
            <a:r>
              <a:rPr lang="en-GB" dirty="0"/>
              <a:t>Run the wave energy scenarios from 5MW to probably 30MW</a:t>
            </a:r>
          </a:p>
          <a:p>
            <a:r>
              <a:rPr lang="en-GB" dirty="0"/>
              <a:t>Run the complementarity analysis using the selected metrics (8)</a:t>
            </a:r>
          </a:p>
          <a:p>
            <a:r>
              <a:rPr lang="en-GB" dirty="0"/>
              <a:t>Validate demand data for the year </a:t>
            </a:r>
          </a:p>
          <a:p>
            <a:r>
              <a:rPr lang="en-GB" dirty="0"/>
              <a:t>Add tidal data</a:t>
            </a:r>
          </a:p>
          <a:p>
            <a:r>
              <a:rPr lang="en-GB" dirty="0"/>
              <a:t>Voltage implications, demand and supply</a:t>
            </a:r>
          </a:p>
          <a:p>
            <a:r>
              <a:rPr lang="en-GB" dirty="0"/>
              <a:t>Slack generators (Look into how it helps the network)</a:t>
            </a:r>
          </a:p>
          <a:p>
            <a:r>
              <a:rPr lang="en-GB" dirty="0"/>
              <a:t>Use gas, slack, and existing storage</a:t>
            </a:r>
          </a:p>
          <a:p>
            <a:r>
              <a:rPr lang="en-GB" dirty="0"/>
              <a:t>Validate the storages in Orkney (Like a call to validate the data with EMEC). Look online and check if the assets are still there</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618384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1165</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Times New Roman</vt:lpstr>
      <vt:lpstr>Office Theme</vt:lpstr>
      <vt:lpstr>PowerPoint Presentation</vt:lpstr>
      <vt:lpstr>Assessing the Complementarity and Grid Integration Potential of Wave Energy in Orkney Under Current Grid Constraints</vt:lpstr>
      <vt:lpstr>Assessing the Complementarity and Grid Integration Potential of Wave Energy in Orkney Under Current Grid Constraints</vt:lpstr>
      <vt:lpstr>Assessing the Complementarity and Grid Integration Potential of Wave Energy in Orkney Under Current Grid Constraints</vt:lpstr>
      <vt:lpstr>Assessing the Complementarity and Grid Integration Potential of Wave Energy in Orkney Under Current Grid Constraints</vt:lpstr>
      <vt:lpstr>PowerPoint Presentation</vt:lpstr>
      <vt:lpstr>Assessing the Complementarity and Grid Integration Potential of Wave Energy in Orkney Under Current Grid Constraints</vt:lpstr>
      <vt:lpstr>Assessing the Complementarity and Grid Integration Potential of Wave Energy in Orkney Under Current Grid Constraints</vt:lpstr>
      <vt:lpstr>Assessing the Complementarity and Grid Integration Potential of Wave Energy in Orkney Under Current Grid Constraints</vt:lpstr>
      <vt:lpstr>NEXT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Maduabuchi Arinze</dc:creator>
  <cp:lastModifiedBy>Maduabuchi Arinze</cp:lastModifiedBy>
  <cp:revision>3</cp:revision>
  <dcterms:created xsi:type="dcterms:W3CDTF">2026-06-02T09:37:55Z</dcterms:created>
  <dcterms:modified xsi:type="dcterms:W3CDTF">2026-06-03T15:11:35Z</dcterms:modified>
</cp:coreProperties>
</file>